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3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BEBDF6-2120-4872-88AC-F8353A1182D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8AA2258-0808-42B9-8210-1D73F7F46B59}">
      <dgm:prSet/>
      <dgm:spPr/>
      <dgm:t>
        <a:bodyPr/>
        <a:lstStyle/>
        <a:p>
          <a:pPr rtl="1"/>
          <a:r>
            <a:rPr lang="he-IL" dirty="0"/>
            <a:t>הפונקציה </a:t>
          </a:r>
          <a:r>
            <a:rPr lang="en-US" b="1" dirty="0" err="1"/>
            <a:t>evaluate_board</a:t>
          </a:r>
          <a:r>
            <a:rPr lang="en-US" b="1" dirty="0"/>
            <a:t> </a:t>
          </a:r>
          <a:r>
            <a:rPr lang="he-IL" b="1" dirty="0"/>
            <a:t> </a:t>
          </a:r>
          <a:r>
            <a:rPr lang="he-IL" dirty="0"/>
            <a:t>נועדה להעריך את מצב הלוח הנוכחי במשחק ולתת ציון שמייצג את החוזק של המצב עבור השחקן הנוכחי. היא משמשת את ה-</a:t>
          </a:r>
          <a:r>
            <a:rPr lang="en-US" dirty="0"/>
            <a:t>AI </a:t>
          </a:r>
          <a:r>
            <a:rPr lang="he-IL" dirty="0"/>
            <a:t> בכך שהיא מחשבת את הציון של הלוח בהתבסס על קריטריונים שונים כמו חשיבות העמודה המרכזית, יצירת רצפים של חיילים ומניעת רצפים של </a:t>
          </a:r>
          <a:r>
            <a:rPr lang="he-IL" dirty="0" err="1"/>
            <a:t>היריב.הפונקציה</a:t>
          </a:r>
          <a:r>
            <a:rPr lang="he-IL" dirty="0"/>
            <a:t> משתמשת בפונקציות עזר על מנת לחשב את הציון הכולל של הלוח.</a:t>
          </a:r>
        </a:p>
      </dgm:t>
    </dgm:pt>
    <dgm:pt modelId="{6861FF39-E752-4C34-B5AF-C92C3827F40F}" type="parTrans" cxnId="{51E29974-46E6-44D7-A642-87D82C3A8812}">
      <dgm:prSet/>
      <dgm:spPr/>
      <dgm:t>
        <a:bodyPr/>
        <a:lstStyle/>
        <a:p>
          <a:pPr rtl="1"/>
          <a:endParaRPr lang="he-IL"/>
        </a:p>
      </dgm:t>
    </dgm:pt>
    <dgm:pt modelId="{B596C37E-2408-44C0-A3BF-AA9FE0CEA533}" type="sibTrans" cxnId="{51E29974-46E6-44D7-A642-87D82C3A8812}">
      <dgm:prSet/>
      <dgm:spPr/>
      <dgm:t>
        <a:bodyPr/>
        <a:lstStyle/>
        <a:p>
          <a:pPr rtl="1"/>
          <a:endParaRPr lang="he-IL"/>
        </a:p>
      </dgm:t>
    </dgm:pt>
    <dgm:pt modelId="{D3DB5BAA-BEB6-428A-9C8D-CDA9443DA8B2}" type="pres">
      <dgm:prSet presAssocID="{F6BEBDF6-2120-4872-88AC-F8353A1182D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6BBAFD9-9B44-44E2-8C35-EC3656C65AF6}" type="pres">
      <dgm:prSet presAssocID="{88AA2258-0808-42B9-8210-1D73F7F46B59}" presName="hierRoot1" presStyleCnt="0"/>
      <dgm:spPr/>
    </dgm:pt>
    <dgm:pt modelId="{1BDCE09A-84A1-44DA-B6C7-5B5BE5FF2044}" type="pres">
      <dgm:prSet presAssocID="{88AA2258-0808-42B9-8210-1D73F7F46B59}" presName="composite" presStyleCnt="0"/>
      <dgm:spPr/>
    </dgm:pt>
    <dgm:pt modelId="{83FC518B-81EA-4098-8DD8-46E6A15AC590}" type="pres">
      <dgm:prSet presAssocID="{88AA2258-0808-42B9-8210-1D73F7F46B59}" presName="background" presStyleLbl="node0" presStyleIdx="0" presStyleCnt="1"/>
      <dgm:spPr/>
    </dgm:pt>
    <dgm:pt modelId="{F78A9BEE-9E40-47E2-9E55-5B6E78BB5DCF}" type="pres">
      <dgm:prSet presAssocID="{88AA2258-0808-42B9-8210-1D73F7F46B59}" presName="text" presStyleLbl="fgAcc0" presStyleIdx="0" presStyleCnt="1" custScaleX="268332" custScaleY="122199" custLinFactNeighborX="17712" custLinFactNeighborY="-28040">
        <dgm:presLayoutVars>
          <dgm:chPref val="3"/>
        </dgm:presLayoutVars>
      </dgm:prSet>
      <dgm:spPr/>
    </dgm:pt>
    <dgm:pt modelId="{D098E413-229E-451F-AA82-97F14FC50129}" type="pres">
      <dgm:prSet presAssocID="{88AA2258-0808-42B9-8210-1D73F7F46B59}" presName="hierChild2" presStyleCnt="0"/>
      <dgm:spPr/>
    </dgm:pt>
  </dgm:ptLst>
  <dgm:cxnLst>
    <dgm:cxn modelId="{AF832C1F-CE36-4DBB-AF97-3743B6DA2B00}" type="presOf" srcId="{88AA2258-0808-42B9-8210-1D73F7F46B59}" destId="{F78A9BEE-9E40-47E2-9E55-5B6E78BB5DCF}" srcOrd="0" destOrd="0" presId="urn:microsoft.com/office/officeart/2005/8/layout/hierarchy1"/>
    <dgm:cxn modelId="{39EB5770-17F1-45E1-B5BD-DD32E984B2E5}" type="presOf" srcId="{F6BEBDF6-2120-4872-88AC-F8353A1182DB}" destId="{D3DB5BAA-BEB6-428A-9C8D-CDA9443DA8B2}" srcOrd="0" destOrd="0" presId="urn:microsoft.com/office/officeart/2005/8/layout/hierarchy1"/>
    <dgm:cxn modelId="{51E29974-46E6-44D7-A642-87D82C3A8812}" srcId="{F6BEBDF6-2120-4872-88AC-F8353A1182DB}" destId="{88AA2258-0808-42B9-8210-1D73F7F46B59}" srcOrd="0" destOrd="0" parTransId="{6861FF39-E752-4C34-B5AF-C92C3827F40F}" sibTransId="{B596C37E-2408-44C0-A3BF-AA9FE0CEA533}"/>
    <dgm:cxn modelId="{BB386B2A-EEC5-4E10-B0EE-B9E36EFD4BD9}" type="presParOf" srcId="{D3DB5BAA-BEB6-428A-9C8D-CDA9443DA8B2}" destId="{96BBAFD9-9B44-44E2-8C35-EC3656C65AF6}" srcOrd="0" destOrd="0" presId="urn:microsoft.com/office/officeart/2005/8/layout/hierarchy1"/>
    <dgm:cxn modelId="{DF5FFC06-92B9-49DE-8A7A-4C7E6311455A}" type="presParOf" srcId="{96BBAFD9-9B44-44E2-8C35-EC3656C65AF6}" destId="{1BDCE09A-84A1-44DA-B6C7-5B5BE5FF2044}" srcOrd="0" destOrd="0" presId="urn:microsoft.com/office/officeart/2005/8/layout/hierarchy1"/>
    <dgm:cxn modelId="{04FFAD49-4F43-4BB0-A62E-1C2FD36202A0}" type="presParOf" srcId="{1BDCE09A-84A1-44DA-B6C7-5B5BE5FF2044}" destId="{83FC518B-81EA-4098-8DD8-46E6A15AC590}" srcOrd="0" destOrd="0" presId="urn:microsoft.com/office/officeart/2005/8/layout/hierarchy1"/>
    <dgm:cxn modelId="{90A4745F-A4EB-4BA8-8939-73A9408315C5}" type="presParOf" srcId="{1BDCE09A-84A1-44DA-B6C7-5B5BE5FF2044}" destId="{F78A9BEE-9E40-47E2-9E55-5B6E78BB5DCF}" srcOrd="1" destOrd="0" presId="urn:microsoft.com/office/officeart/2005/8/layout/hierarchy1"/>
    <dgm:cxn modelId="{7BB115B0-B79F-4798-9153-3E09AA4DFCEA}" type="presParOf" srcId="{96BBAFD9-9B44-44E2-8C35-EC3656C65AF6}" destId="{D098E413-229E-451F-AA82-97F14FC5012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97CFFE-937C-4E39-B6E6-5340C836EAA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883D214-826D-433A-8018-DC2FA67545BA}">
      <dgm:prSet/>
      <dgm:spPr/>
      <dgm:t>
        <a:bodyPr/>
        <a:lstStyle/>
        <a:p>
          <a:pPr>
            <a:lnSpc>
              <a:spcPct val="100000"/>
            </a:lnSpc>
          </a:pPr>
          <a:r>
            <a:rPr lang="he-IL"/>
            <a:t>שפה נוחה ומהירה לפיתוח.</a:t>
          </a:r>
          <a:endParaRPr lang="en-US"/>
        </a:p>
      </dgm:t>
    </dgm:pt>
    <dgm:pt modelId="{E2C8A6DA-6D2B-4FE3-A68C-AA9F2F931D07}" type="parTrans" cxnId="{A0BB609F-A82B-4340-A0FA-7F51AE37B2C0}">
      <dgm:prSet/>
      <dgm:spPr/>
      <dgm:t>
        <a:bodyPr/>
        <a:lstStyle/>
        <a:p>
          <a:endParaRPr lang="en-US"/>
        </a:p>
      </dgm:t>
    </dgm:pt>
    <dgm:pt modelId="{107E3F99-3872-43AB-8C1E-02EBD89C6C01}" type="sibTrans" cxnId="{A0BB609F-A82B-4340-A0FA-7F51AE37B2C0}">
      <dgm:prSet/>
      <dgm:spPr/>
      <dgm:t>
        <a:bodyPr/>
        <a:lstStyle/>
        <a:p>
          <a:endParaRPr lang="en-US"/>
        </a:p>
      </dgm:t>
    </dgm:pt>
    <dgm:pt modelId="{4AC56C64-7B31-499C-9A07-2A7106B3532D}">
      <dgm:prSet/>
      <dgm:spPr/>
      <dgm:t>
        <a:bodyPr/>
        <a:lstStyle/>
        <a:p>
          <a:pPr>
            <a:lnSpc>
              <a:spcPct val="100000"/>
            </a:lnSpc>
          </a:pPr>
          <a:r>
            <a:rPr lang="he-IL" dirty="0"/>
            <a:t>ספריות רבות התומכות בפיתוח משחקים כגון </a:t>
          </a:r>
          <a:r>
            <a:rPr lang="en-US" dirty="0" err="1"/>
            <a:t>tkinter</a:t>
          </a:r>
          <a:endParaRPr lang="en-US" dirty="0"/>
        </a:p>
      </dgm:t>
    </dgm:pt>
    <dgm:pt modelId="{E017D2D9-064B-4AE9-B738-8DA4C5046153}" type="parTrans" cxnId="{425C1000-0D4E-4110-82A1-7D806FD0C339}">
      <dgm:prSet/>
      <dgm:spPr/>
      <dgm:t>
        <a:bodyPr/>
        <a:lstStyle/>
        <a:p>
          <a:endParaRPr lang="en-US"/>
        </a:p>
      </dgm:t>
    </dgm:pt>
    <dgm:pt modelId="{40CA7ABA-144F-4B5F-B0DB-52377FBAC8FD}" type="sibTrans" cxnId="{425C1000-0D4E-4110-82A1-7D806FD0C339}">
      <dgm:prSet/>
      <dgm:spPr/>
      <dgm:t>
        <a:bodyPr/>
        <a:lstStyle/>
        <a:p>
          <a:endParaRPr lang="en-US"/>
        </a:p>
      </dgm:t>
    </dgm:pt>
    <dgm:pt modelId="{08C94FBF-A269-4242-9B1B-AB20CFC296D1}">
      <dgm:prSet/>
      <dgm:spPr/>
      <dgm:t>
        <a:bodyPr/>
        <a:lstStyle/>
        <a:p>
          <a:pPr>
            <a:lnSpc>
              <a:spcPct val="100000"/>
            </a:lnSpc>
          </a:pPr>
          <a:r>
            <a:rPr lang="he-IL"/>
            <a:t>קהילה גדולה ותמיכה רחבה.</a:t>
          </a:r>
          <a:endParaRPr lang="en-US"/>
        </a:p>
      </dgm:t>
    </dgm:pt>
    <dgm:pt modelId="{90E5C4E2-80F5-4152-A63A-E57DCCED25A6}" type="parTrans" cxnId="{11A678B7-9B94-4AA3-AB81-F91839B21709}">
      <dgm:prSet/>
      <dgm:spPr/>
      <dgm:t>
        <a:bodyPr/>
        <a:lstStyle/>
        <a:p>
          <a:endParaRPr lang="en-US"/>
        </a:p>
      </dgm:t>
    </dgm:pt>
    <dgm:pt modelId="{DBEF41CC-4B8B-4953-96C0-433013281572}" type="sibTrans" cxnId="{11A678B7-9B94-4AA3-AB81-F91839B21709}">
      <dgm:prSet/>
      <dgm:spPr/>
      <dgm:t>
        <a:bodyPr/>
        <a:lstStyle/>
        <a:p>
          <a:endParaRPr lang="en-US"/>
        </a:p>
      </dgm:t>
    </dgm:pt>
    <dgm:pt modelId="{ABBF067A-CE9E-4D08-9FF5-99A8DD902A25}" type="pres">
      <dgm:prSet presAssocID="{FA97CFFE-937C-4E39-B6E6-5340C836EAAD}" presName="root" presStyleCnt="0">
        <dgm:presLayoutVars>
          <dgm:dir/>
          <dgm:resizeHandles val="exact"/>
        </dgm:presLayoutVars>
      </dgm:prSet>
      <dgm:spPr/>
    </dgm:pt>
    <dgm:pt modelId="{3FB3E8D7-B528-446D-B11A-DB144EB3C559}" type="pres">
      <dgm:prSet presAssocID="{8883D214-826D-433A-8018-DC2FA67545BA}" presName="compNode" presStyleCnt="0"/>
      <dgm:spPr/>
    </dgm:pt>
    <dgm:pt modelId="{DFEBA10E-AE8E-4BDC-8BF0-C04FB91C829D}" type="pres">
      <dgm:prSet presAssocID="{8883D214-826D-433A-8018-DC2FA67545B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צ'אט"/>
        </a:ext>
      </dgm:extLst>
    </dgm:pt>
    <dgm:pt modelId="{34C27934-BB72-4665-B997-34B6F33499FB}" type="pres">
      <dgm:prSet presAssocID="{8883D214-826D-433A-8018-DC2FA67545BA}" presName="spaceRect" presStyleCnt="0"/>
      <dgm:spPr/>
    </dgm:pt>
    <dgm:pt modelId="{007573FA-C2E6-45BA-9AB9-08E865A23621}" type="pres">
      <dgm:prSet presAssocID="{8883D214-826D-433A-8018-DC2FA67545BA}" presName="textRect" presStyleLbl="revTx" presStyleIdx="0" presStyleCnt="3">
        <dgm:presLayoutVars>
          <dgm:chMax val="1"/>
          <dgm:chPref val="1"/>
        </dgm:presLayoutVars>
      </dgm:prSet>
      <dgm:spPr/>
    </dgm:pt>
    <dgm:pt modelId="{26925B30-83BE-4547-B9F3-4E1BC9544B0F}" type="pres">
      <dgm:prSet presAssocID="{107E3F99-3872-43AB-8C1E-02EBD89C6C01}" presName="sibTrans" presStyleCnt="0"/>
      <dgm:spPr/>
    </dgm:pt>
    <dgm:pt modelId="{2F227D26-4B3E-4987-9E69-CD9BDD3C1E12}" type="pres">
      <dgm:prSet presAssocID="{4AC56C64-7B31-499C-9A07-2A7106B3532D}" presName="compNode" presStyleCnt="0"/>
      <dgm:spPr/>
    </dgm:pt>
    <dgm:pt modelId="{474E4FEB-C646-4B9D-B22A-954A6DDCD1FA}" type="pres">
      <dgm:prSet presAssocID="{4AC56C64-7B31-499C-9A07-2A7106B3532D}" presName="iconRect" presStyleLbl="node1" presStyleIdx="1" presStyleCnt="3" custLinFactNeighborX="-210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55EC9CEC-478C-4A90-BC38-711D71C9B1E9}" type="pres">
      <dgm:prSet presAssocID="{4AC56C64-7B31-499C-9A07-2A7106B3532D}" presName="spaceRect" presStyleCnt="0"/>
      <dgm:spPr/>
    </dgm:pt>
    <dgm:pt modelId="{0301DA35-ADA8-4F64-B9D8-EC937F285541}" type="pres">
      <dgm:prSet presAssocID="{4AC56C64-7B31-499C-9A07-2A7106B3532D}" presName="textRect" presStyleLbl="revTx" presStyleIdx="1" presStyleCnt="3" custScaleY="151987">
        <dgm:presLayoutVars>
          <dgm:chMax val="1"/>
          <dgm:chPref val="1"/>
        </dgm:presLayoutVars>
      </dgm:prSet>
      <dgm:spPr/>
    </dgm:pt>
    <dgm:pt modelId="{8517ED04-3744-400A-9526-6422E7664F80}" type="pres">
      <dgm:prSet presAssocID="{40CA7ABA-144F-4B5F-B0DB-52377FBAC8FD}" presName="sibTrans" presStyleCnt="0"/>
      <dgm:spPr/>
    </dgm:pt>
    <dgm:pt modelId="{B9A6923D-46E4-4132-9D5F-A006286647ED}" type="pres">
      <dgm:prSet presAssocID="{08C94FBF-A269-4242-9B1B-AB20CFC296D1}" presName="compNode" presStyleCnt="0"/>
      <dgm:spPr/>
    </dgm:pt>
    <dgm:pt modelId="{32CE6995-4EB0-4FFC-B3BE-0FD5A57DB427}" type="pres">
      <dgm:prSet presAssocID="{08C94FBF-A269-4242-9B1B-AB20CFC296D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קבוצה"/>
        </a:ext>
      </dgm:extLst>
    </dgm:pt>
    <dgm:pt modelId="{7A4B55CC-9230-4424-AB49-D82033C284C9}" type="pres">
      <dgm:prSet presAssocID="{08C94FBF-A269-4242-9B1B-AB20CFC296D1}" presName="spaceRect" presStyleCnt="0"/>
      <dgm:spPr/>
    </dgm:pt>
    <dgm:pt modelId="{E4A923F0-C7B2-4DBB-A633-71D9097092B8}" type="pres">
      <dgm:prSet presAssocID="{08C94FBF-A269-4242-9B1B-AB20CFC296D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25C1000-0D4E-4110-82A1-7D806FD0C339}" srcId="{FA97CFFE-937C-4E39-B6E6-5340C836EAAD}" destId="{4AC56C64-7B31-499C-9A07-2A7106B3532D}" srcOrd="1" destOrd="0" parTransId="{E017D2D9-064B-4AE9-B738-8DA4C5046153}" sibTransId="{40CA7ABA-144F-4B5F-B0DB-52377FBAC8FD}"/>
    <dgm:cxn modelId="{A3806759-91EC-4731-AEE3-D51976F6384B}" type="presOf" srcId="{FA97CFFE-937C-4E39-B6E6-5340C836EAAD}" destId="{ABBF067A-CE9E-4D08-9FF5-99A8DD902A25}" srcOrd="0" destOrd="0" presId="urn:microsoft.com/office/officeart/2018/2/layout/IconLabelList"/>
    <dgm:cxn modelId="{E76E2780-04E4-4D16-AD95-D68AA2A8B0C3}" type="presOf" srcId="{8883D214-826D-433A-8018-DC2FA67545BA}" destId="{007573FA-C2E6-45BA-9AB9-08E865A23621}" srcOrd="0" destOrd="0" presId="urn:microsoft.com/office/officeart/2018/2/layout/IconLabelList"/>
    <dgm:cxn modelId="{A7D54191-4C55-4624-A56C-4E2D152D2AA1}" type="presOf" srcId="{08C94FBF-A269-4242-9B1B-AB20CFC296D1}" destId="{E4A923F0-C7B2-4DBB-A633-71D9097092B8}" srcOrd="0" destOrd="0" presId="urn:microsoft.com/office/officeart/2018/2/layout/IconLabelList"/>
    <dgm:cxn modelId="{A0BB609F-A82B-4340-A0FA-7F51AE37B2C0}" srcId="{FA97CFFE-937C-4E39-B6E6-5340C836EAAD}" destId="{8883D214-826D-433A-8018-DC2FA67545BA}" srcOrd="0" destOrd="0" parTransId="{E2C8A6DA-6D2B-4FE3-A68C-AA9F2F931D07}" sibTransId="{107E3F99-3872-43AB-8C1E-02EBD89C6C01}"/>
    <dgm:cxn modelId="{11A678B7-9B94-4AA3-AB81-F91839B21709}" srcId="{FA97CFFE-937C-4E39-B6E6-5340C836EAAD}" destId="{08C94FBF-A269-4242-9B1B-AB20CFC296D1}" srcOrd="2" destOrd="0" parTransId="{90E5C4E2-80F5-4152-A63A-E57DCCED25A6}" sibTransId="{DBEF41CC-4B8B-4953-96C0-433013281572}"/>
    <dgm:cxn modelId="{72C74EC6-639F-438C-803E-8B974178FB86}" type="presOf" srcId="{4AC56C64-7B31-499C-9A07-2A7106B3532D}" destId="{0301DA35-ADA8-4F64-B9D8-EC937F285541}" srcOrd="0" destOrd="0" presId="urn:microsoft.com/office/officeart/2018/2/layout/IconLabelList"/>
    <dgm:cxn modelId="{284CE1E7-4D28-4CA5-BE8E-49DFCC2961AE}" type="presParOf" srcId="{ABBF067A-CE9E-4D08-9FF5-99A8DD902A25}" destId="{3FB3E8D7-B528-446D-B11A-DB144EB3C559}" srcOrd="0" destOrd="0" presId="urn:microsoft.com/office/officeart/2018/2/layout/IconLabelList"/>
    <dgm:cxn modelId="{CFBB9E97-FEE5-4F57-AE9B-7437C6C3D39A}" type="presParOf" srcId="{3FB3E8D7-B528-446D-B11A-DB144EB3C559}" destId="{DFEBA10E-AE8E-4BDC-8BF0-C04FB91C829D}" srcOrd="0" destOrd="0" presId="urn:microsoft.com/office/officeart/2018/2/layout/IconLabelList"/>
    <dgm:cxn modelId="{4B24395F-24E1-4C7D-BF93-00D75229A623}" type="presParOf" srcId="{3FB3E8D7-B528-446D-B11A-DB144EB3C559}" destId="{34C27934-BB72-4665-B997-34B6F33499FB}" srcOrd="1" destOrd="0" presId="urn:microsoft.com/office/officeart/2018/2/layout/IconLabelList"/>
    <dgm:cxn modelId="{EDE51C5B-5190-43C8-B346-6DE6E45E1CEE}" type="presParOf" srcId="{3FB3E8D7-B528-446D-B11A-DB144EB3C559}" destId="{007573FA-C2E6-45BA-9AB9-08E865A23621}" srcOrd="2" destOrd="0" presId="urn:microsoft.com/office/officeart/2018/2/layout/IconLabelList"/>
    <dgm:cxn modelId="{DC811050-14A3-4C61-A520-DFF61E64F749}" type="presParOf" srcId="{ABBF067A-CE9E-4D08-9FF5-99A8DD902A25}" destId="{26925B30-83BE-4547-B9F3-4E1BC9544B0F}" srcOrd="1" destOrd="0" presId="urn:microsoft.com/office/officeart/2018/2/layout/IconLabelList"/>
    <dgm:cxn modelId="{BF0D5229-D4E8-4D63-8280-6CD7DC7C7CFE}" type="presParOf" srcId="{ABBF067A-CE9E-4D08-9FF5-99A8DD902A25}" destId="{2F227D26-4B3E-4987-9E69-CD9BDD3C1E12}" srcOrd="2" destOrd="0" presId="urn:microsoft.com/office/officeart/2018/2/layout/IconLabelList"/>
    <dgm:cxn modelId="{08019326-F8D8-478C-99C4-E871576CA9D5}" type="presParOf" srcId="{2F227D26-4B3E-4987-9E69-CD9BDD3C1E12}" destId="{474E4FEB-C646-4B9D-B22A-954A6DDCD1FA}" srcOrd="0" destOrd="0" presId="urn:microsoft.com/office/officeart/2018/2/layout/IconLabelList"/>
    <dgm:cxn modelId="{A9219CF0-6A53-46B4-B500-4ADFB1262742}" type="presParOf" srcId="{2F227D26-4B3E-4987-9E69-CD9BDD3C1E12}" destId="{55EC9CEC-478C-4A90-BC38-711D71C9B1E9}" srcOrd="1" destOrd="0" presId="urn:microsoft.com/office/officeart/2018/2/layout/IconLabelList"/>
    <dgm:cxn modelId="{9C86066E-42C4-4026-902F-F2ECD9B8AF0A}" type="presParOf" srcId="{2F227D26-4B3E-4987-9E69-CD9BDD3C1E12}" destId="{0301DA35-ADA8-4F64-B9D8-EC937F285541}" srcOrd="2" destOrd="0" presId="urn:microsoft.com/office/officeart/2018/2/layout/IconLabelList"/>
    <dgm:cxn modelId="{9BA64A04-01EA-4732-888B-D989085CDBA1}" type="presParOf" srcId="{ABBF067A-CE9E-4D08-9FF5-99A8DD902A25}" destId="{8517ED04-3744-400A-9526-6422E7664F80}" srcOrd="3" destOrd="0" presId="urn:microsoft.com/office/officeart/2018/2/layout/IconLabelList"/>
    <dgm:cxn modelId="{74E6ACB7-834E-4058-B8C5-119EF37C0BF1}" type="presParOf" srcId="{ABBF067A-CE9E-4D08-9FF5-99A8DD902A25}" destId="{B9A6923D-46E4-4132-9D5F-A006286647ED}" srcOrd="4" destOrd="0" presId="urn:microsoft.com/office/officeart/2018/2/layout/IconLabelList"/>
    <dgm:cxn modelId="{A558513A-5B24-4CE3-B400-9E2929554B2C}" type="presParOf" srcId="{B9A6923D-46E4-4132-9D5F-A006286647ED}" destId="{32CE6995-4EB0-4FFC-B3BE-0FD5A57DB427}" srcOrd="0" destOrd="0" presId="urn:microsoft.com/office/officeart/2018/2/layout/IconLabelList"/>
    <dgm:cxn modelId="{8FE6D14C-6878-4F7F-8773-44864ADB9274}" type="presParOf" srcId="{B9A6923D-46E4-4132-9D5F-A006286647ED}" destId="{7A4B55CC-9230-4424-AB49-D82033C284C9}" srcOrd="1" destOrd="0" presId="urn:microsoft.com/office/officeart/2018/2/layout/IconLabelList"/>
    <dgm:cxn modelId="{48C8CBF6-A6FC-45A8-89D8-447E5D3BD5F3}" type="presParOf" srcId="{B9A6923D-46E4-4132-9D5F-A006286647ED}" destId="{E4A923F0-C7B2-4DBB-A633-71D9097092B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C518B-81EA-4098-8DD8-46E6A15AC590}">
      <dsp:nvSpPr>
        <dsp:cNvPr id="0" name=""/>
        <dsp:cNvSpPr/>
      </dsp:nvSpPr>
      <dsp:spPr>
        <a:xfrm>
          <a:off x="207972" y="-384174"/>
          <a:ext cx="9766073" cy="28241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8A9BEE-9E40-47E2-9E55-5B6E78BB5DCF}">
      <dsp:nvSpPr>
        <dsp:cNvPr id="0" name=""/>
        <dsp:cNvSpPr/>
      </dsp:nvSpPr>
      <dsp:spPr>
        <a:xfrm>
          <a:off x="612366" y="0"/>
          <a:ext cx="9766073" cy="28241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800" kern="1200" dirty="0"/>
            <a:t>הפונקציה </a:t>
          </a:r>
          <a:r>
            <a:rPr lang="en-US" sz="2800" b="1" kern="1200" dirty="0" err="1"/>
            <a:t>evaluate_board</a:t>
          </a:r>
          <a:r>
            <a:rPr lang="en-US" sz="2800" b="1" kern="1200" dirty="0"/>
            <a:t> </a:t>
          </a:r>
          <a:r>
            <a:rPr lang="he-IL" sz="2800" b="1" kern="1200" dirty="0"/>
            <a:t> </a:t>
          </a:r>
          <a:r>
            <a:rPr lang="he-IL" sz="2800" kern="1200" dirty="0"/>
            <a:t>נועדה להעריך את מצב הלוח הנוכחי במשחק ולתת ציון שמייצג את החוזק של המצב עבור השחקן הנוכחי. היא משמשת את ה-</a:t>
          </a:r>
          <a:r>
            <a:rPr lang="en-US" sz="2800" kern="1200" dirty="0"/>
            <a:t>AI </a:t>
          </a:r>
          <a:r>
            <a:rPr lang="he-IL" sz="2800" kern="1200" dirty="0"/>
            <a:t> בכך שהיא מחשבת את הציון של הלוח בהתבסס על קריטריונים שונים כמו חשיבות העמודה המרכזית, יצירת רצפים של חיילים ומניעת רצפים של </a:t>
          </a:r>
          <a:r>
            <a:rPr lang="he-IL" sz="2800" kern="1200" dirty="0" err="1"/>
            <a:t>היריב.הפונקציה</a:t>
          </a:r>
          <a:r>
            <a:rPr lang="he-IL" sz="2800" kern="1200" dirty="0"/>
            <a:t> משתמשת בפונקציות עזר על מנת לחשב את הציון הכולל של הלוח.</a:t>
          </a:r>
        </a:p>
      </dsp:txBody>
      <dsp:txXfrm>
        <a:off x="695083" y="82717"/>
        <a:ext cx="9600639" cy="26587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EBA10E-AE8E-4BDC-8BF0-C04FB91C829D}">
      <dsp:nvSpPr>
        <dsp:cNvPr id="0" name=""/>
        <dsp:cNvSpPr/>
      </dsp:nvSpPr>
      <dsp:spPr>
        <a:xfrm>
          <a:off x="788232" y="505350"/>
          <a:ext cx="1226809" cy="12268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7573FA-C2E6-45BA-9AB9-08E865A23621}">
      <dsp:nvSpPr>
        <dsp:cNvPr id="0" name=""/>
        <dsp:cNvSpPr/>
      </dsp:nvSpPr>
      <dsp:spPr>
        <a:xfrm>
          <a:off x="38515" y="2075889"/>
          <a:ext cx="27262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/>
            <a:t>שפה נוחה ומהירה לפיתוח.</a:t>
          </a:r>
          <a:endParaRPr lang="en-US" sz="2100" kern="1200"/>
        </a:p>
      </dsp:txBody>
      <dsp:txXfrm>
        <a:off x="38515" y="2075889"/>
        <a:ext cx="2726243" cy="720000"/>
      </dsp:txXfrm>
    </dsp:sp>
    <dsp:sp modelId="{474E4FEB-C646-4B9D-B22A-954A6DDCD1FA}">
      <dsp:nvSpPr>
        <dsp:cNvPr id="0" name=""/>
        <dsp:cNvSpPr/>
      </dsp:nvSpPr>
      <dsp:spPr>
        <a:xfrm>
          <a:off x="3965707" y="411774"/>
          <a:ext cx="1226809" cy="12268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1DA35-ADA8-4F64-B9D8-EC937F285541}">
      <dsp:nvSpPr>
        <dsp:cNvPr id="0" name=""/>
        <dsp:cNvSpPr/>
      </dsp:nvSpPr>
      <dsp:spPr>
        <a:xfrm>
          <a:off x="3241851" y="1795159"/>
          <a:ext cx="2726243" cy="1094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 dirty="0"/>
            <a:t>ספריות רבות התומכות בפיתוח משחקים כגון </a:t>
          </a:r>
          <a:r>
            <a:rPr lang="en-US" sz="2100" kern="1200" dirty="0" err="1"/>
            <a:t>tkinter</a:t>
          </a:r>
          <a:endParaRPr lang="en-US" sz="2100" kern="1200" dirty="0"/>
        </a:p>
      </dsp:txBody>
      <dsp:txXfrm>
        <a:off x="3241851" y="1795159"/>
        <a:ext cx="2726243" cy="1094306"/>
      </dsp:txXfrm>
    </dsp:sp>
    <dsp:sp modelId="{32CE6995-4EB0-4FFC-B3BE-0FD5A57DB427}">
      <dsp:nvSpPr>
        <dsp:cNvPr id="0" name=""/>
        <dsp:cNvSpPr/>
      </dsp:nvSpPr>
      <dsp:spPr>
        <a:xfrm>
          <a:off x="7194904" y="505350"/>
          <a:ext cx="1226809" cy="12268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923F0-C7B2-4DBB-A633-71D9097092B8}">
      <dsp:nvSpPr>
        <dsp:cNvPr id="0" name=""/>
        <dsp:cNvSpPr/>
      </dsp:nvSpPr>
      <dsp:spPr>
        <a:xfrm>
          <a:off x="6445187" y="2075889"/>
          <a:ext cx="27262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/>
            <a:t>קהילה גדולה ותמיכה רחבה.</a:t>
          </a:r>
          <a:endParaRPr lang="en-US" sz="2100" kern="1200"/>
        </a:p>
      </dsp:txBody>
      <dsp:txXfrm>
        <a:off x="6445187" y="2075889"/>
        <a:ext cx="272624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F341A67-D34C-4639-98F3-1883F273EE6B}" type="datetimeFigureOut">
              <a:rPr lang="he-IL" smtClean="0"/>
              <a:t>כ"ג/תמוז/תשפ"ד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72B05BA0-8B59-46CD-A35D-2C2168BC4F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3921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05BA0-8B59-46CD-A35D-2C2168BC4F4D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9753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2F89035-E9BF-6F77-E653-F1D4EA3F8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2A72C519-C473-AA04-63B1-6D7BEA2A0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5B259F4-FE12-8DEE-C82C-5E70A24BB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869D-D643-4A73-8868-52B92BF1770C}" type="datetimeFigureOut">
              <a:rPr lang="he-IL" smtClean="0"/>
              <a:t>כ"ג/תמוז/תשפ"ד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D30F6A2-E801-C902-FDCA-9CE6700FC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CA30341-D0FA-9C50-7535-831E94B5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6455E-C287-4E0D-811F-713D3C359E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6498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2F1D06F-FD20-A63C-6C97-0AA798BA7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8BB9A79-F4C0-C56B-5E48-3AE35BD04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5A01566-504B-CEB0-29DE-6E964E26F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869D-D643-4A73-8868-52B92BF1770C}" type="datetimeFigureOut">
              <a:rPr lang="he-IL" smtClean="0"/>
              <a:t>כ"ג/תמוז/תשפ"ד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E053180-FC8D-3D8D-B9D6-833BD561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C1DE3C2-0AE1-0DCB-7ADC-D0AB9B66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6455E-C287-4E0D-811F-713D3C359E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65049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E28097-73EA-D0DE-6113-DE9127DE1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792FD04-F8CF-BA60-AC2E-2C8B26A12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01BE2EC-AC75-7BCB-6560-D79167F67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869D-D643-4A73-8868-52B92BF1770C}" type="datetimeFigureOut">
              <a:rPr lang="he-IL" smtClean="0"/>
              <a:t>כ"ג/תמוז/תשפ"ד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CDD1808-09A9-5D7E-4B85-94259A66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7100E77-BE7A-96B1-F241-E7263B455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6455E-C287-4E0D-811F-713D3C359E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017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F30BF8-73A4-D7C9-EC3F-BF88DD49E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8D50FC0-2497-E8F0-8174-F09B4EAB7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6019E9C-E689-314D-8979-79BFE3B32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6D86BCF-3971-CEFF-C13F-93909FDB2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869D-D643-4A73-8868-52B92BF1770C}" type="datetimeFigureOut">
              <a:rPr lang="he-IL" smtClean="0"/>
              <a:t>כ"ג/תמוז/תשפ"ד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0AAE25-CFE2-3066-F2E3-272042265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F027D32-A86E-C77E-52D7-E03E6DA02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6455E-C287-4E0D-811F-713D3C359E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16299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3E0504-4232-9503-2134-F0A834782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880355C-D7C4-8645-DA86-4394D68D4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B689C93-21BA-F99B-A9E7-6FE604396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0F5B474-40B7-F97E-D8A0-0E2EE7D12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18C7CA3-07E7-32A3-30FB-34E9E4EE6C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29193FCB-96B0-AB4B-BB72-ED102215C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869D-D643-4A73-8868-52B92BF1770C}" type="datetimeFigureOut">
              <a:rPr lang="he-IL" smtClean="0"/>
              <a:t>כ"ג/תמוז/תשפ"ד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9773F66-2B0C-0FA5-EBA3-4411B73B5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48C532F-CF3B-EDC5-BAA2-E49F9A3BE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6455E-C287-4E0D-811F-713D3C359E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8297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668C9FB-DB67-1AE8-B0BE-4A8EB7B42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BE3ECF07-A8CC-C729-00DD-DD8B9EDEE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869D-D643-4A73-8868-52B92BF1770C}" type="datetimeFigureOut">
              <a:rPr lang="he-IL" smtClean="0"/>
              <a:t>כ"ג/תמוז/תשפ"ד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C06720D-505C-1B0B-CAF2-6171640FE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9AA0BEDD-54C4-9E20-D908-79D87A334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6455E-C287-4E0D-811F-713D3C359E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48628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467F9F9B-0551-A014-695D-0679B7797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869D-D643-4A73-8868-52B92BF1770C}" type="datetimeFigureOut">
              <a:rPr lang="he-IL" smtClean="0"/>
              <a:t>כ"ג/תמוז/תשפ"ד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477DFFC-C64A-8A65-CFD3-670CC04BD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00B8EC3-0810-696D-BC90-C52A21734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6455E-C287-4E0D-811F-713D3C359E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5913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ED52DFF-C82E-68E1-F0B0-2FE611B6F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EA554D5-132D-3490-8B81-5B29A3E8B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2854E10-1ECA-B3F4-7F08-2079E0223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8DAE481-BBFC-645D-C094-DD043C908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869D-D643-4A73-8868-52B92BF1770C}" type="datetimeFigureOut">
              <a:rPr lang="he-IL" smtClean="0"/>
              <a:t>כ"ג/תמוז/תשפ"ד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FCF8088-FFB3-8326-2635-18EF686A7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07B01D7-B07F-3A6D-5B0D-A31BBD86E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6455E-C287-4E0D-811F-713D3C359E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2254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0B5E73-EA98-AF53-B864-2E9338C9A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1F0128F6-F624-A7BB-F378-1B244964CD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D34E68E-F987-A7F3-B82E-61EDAACC9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FDF7B7C-18F2-FAC4-4D71-DCB3ECC51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869D-D643-4A73-8868-52B92BF1770C}" type="datetimeFigureOut">
              <a:rPr lang="he-IL" smtClean="0"/>
              <a:t>כ"ג/תמוז/תשפ"ד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FBED9C2-C9FB-0675-A7D9-3965B6502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FADF8D0-9FF2-2DE5-0841-855DDC3AA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6455E-C287-4E0D-811F-713D3C359E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89870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62A1062-F6C8-0A12-1FD4-B95E8EFF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783BE54-A189-335B-23EA-A0DEA5EAC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FF21B89-FA04-1EFB-2F2B-F85931049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869D-D643-4A73-8868-52B92BF1770C}" type="datetimeFigureOut">
              <a:rPr lang="he-IL" smtClean="0"/>
              <a:t>כ"ג/תמוז/תשפ"ד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D2D292B-3E39-C2AA-8434-39DDE40C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7901471-7594-A0DA-2E16-D666287A4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6455E-C287-4E0D-811F-713D3C359E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70399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6513B334-D520-6D4C-9454-3D86E6DD8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B5EE2C6-7291-B155-AA8A-7F930691C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9A5224B-7241-1986-A0FC-FF4138AF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869D-D643-4A73-8868-52B92BF1770C}" type="datetimeFigureOut">
              <a:rPr lang="he-IL" smtClean="0"/>
              <a:t>כ"ג/תמוז/תשפ"ד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90A8C3F-5804-8F28-61D9-ECC5836C5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68CBAA9-BC30-2758-70A1-0EE739CEC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6455E-C287-4E0D-811F-713D3C359E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7872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5794D0B-BA6A-2D92-1801-D4C6A11A8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FE0F298-B5AF-881A-7607-E1927BB77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0782C10-78C3-62CA-29FB-42E15CD9E6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1869D-D643-4A73-8868-52B92BF1770C}" type="datetimeFigureOut">
              <a:rPr lang="he-IL" smtClean="0"/>
              <a:t>כ"ג/תמוז/תשפ"ד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852C2D4-83EB-D801-5EB7-6831D830A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81A24E6-7C43-8853-C7E3-44C0B63C3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6455E-C287-4E0D-811F-713D3C359E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744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תמונה שמכילה צבעוני, ירוק, גרפיקה, עיצוב&#10;&#10;התיאור נוצר באופן אוטומטי">
            <a:extLst>
              <a:ext uri="{FF2B5EF4-FFF2-40B4-BE49-F238E27FC236}">
                <a16:creationId xmlns:a16="http://schemas.microsoft.com/office/drawing/2014/main" id="{8AC55740-DE24-B8B2-EBBB-1FD8C53B4D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82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86B09D6-3282-FFA8-999F-363BECC90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0" y="365125"/>
            <a:ext cx="413384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/>
              <a:t>4</a:t>
            </a:r>
            <a:r>
              <a:rPr lang="he-IL" sz="4000"/>
              <a:t> בשורה אקסטרים</a:t>
            </a:r>
            <a:endParaRPr lang="en-US" sz="4000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79426C9-6D95-4FE7-008E-6006CDCF4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1350" y="2434201"/>
            <a:ext cx="4362449" cy="313474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2000" b="1"/>
              <a:t>מגישים:</a:t>
            </a:r>
          </a:p>
          <a:p>
            <a:pPr>
              <a:spcAft>
                <a:spcPts val="800"/>
              </a:spcAft>
            </a:pPr>
            <a:br>
              <a:rPr lang="en-US" sz="2000"/>
            </a:br>
            <a:r>
              <a:rPr lang="he-IL" sz="2000" b="1"/>
              <a:t>יונתן וינשטוק </a:t>
            </a:r>
            <a:r>
              <a:rPr lang="en-US" sz="2000" b="1">
                <a:effectLst/>
              </a:rPr>
              <a:t>206861148 </a:t>
            </a:r>
            <a:endParaRPr lang="he-IL" sz="2000" b="1">
              <a:effectLst/>
            </a:endParaRPr>
          </a:p>
          <a:p>
            <a:pPr>
              <a:spcAft>
                <a:spcPts val="800"/>
              </a:spcAft>
            </a:pPr>
            <a:r>
              <a:rPr lang="en-US" sz="2000" b="1">
                <a:effectLst/>
              </a:rPr>
              <a:t>יואב ימין 319073862</a:t>
            </a:r>
            <a:endParaRPr lang="en-US" sz="2000">
              <a:effectLst/>
            </a:endParaRPr>
          </a:p>
          <a:p>
            <a:pPr>
              <a:spcAft>
                <a:spcPts val="800"/>
              </a:spcAft>
            </a:pPr>
            <a:r>
              <a:rPr lang="en-US" sz="2000" b="1">
                <a:effectLst/>
              </a:rPr>
              <a:t>אריאל סעדון 208445221</a:t>
            </a:r>
            <a:br>
              <a:rPr lang="en-US" sz="2000" b="1">
                <a:effectLst/>
              </a:rPr>
            </a:br>
            <a:endParaRPr lang="en-US" sz="2000">
              <a:effectLst/>
            </a:endParaRPr>
          </a:p>
          <a:p>
            <a:pPr indent="-228600" algn="l" rtl="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30157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חלקי משחק איקס מיקס דריקס ממתכת">
            <a:extLst>
              <a:ext uri="{FF2B5EF4-FFF2-40B4-BE49-F238E27FC236}">
                <a16:creationId xmlns:a16="http://schemas.microsoft.com/office/drawing/2014/main" id="{E3AA9C3E-1D66-50A9-4421-B66CA8984B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36"/>
          <a:stretch/>
        </p:blipFill>
        <p:spPr>
          <a:xfrm>
            <a:off x="-1606731" y="0"/>
            <a:ext cx="9669642" cy="6857990"/>
          </a:xfrm>
          <a:prstGeom prst="rect">
            <a:avLst/>
          </a:prstGeom>
        </p:spPr>
      </p:pic>
      <p:sp>
        <p:nvSpPr>
          <p:cNvPr id="20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E53A44E1-7061-B08C-DAF1-9948A6276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9146" y="692330"/>
            <a:ext cx="2993570" cy="828123"/>
          </a:xfrm>
        </p:spPr>
        <p:txBody>
          <a:bodyPr>
            <a:normAutofit/>
          </a:bodyPr>
          <a:lstStyle/>
          <a:p>
            <a:r>
              <a:rPr lang="he-IL" sz="4000" dirty="0"/>
              <a:t>מה מימשנו</a:t>
            </a:r>
          </a:p>
        </p:txBody>
      </p:sp>
      <p:sp>
        <p:nvSpPr>
          <p:cNvPr id="21" name="מציין מיקום תוכן 2">
            <a:extLst>
              <a:ext uri="{FF2B5EF4-FFF2-40B4-BE49-F238E27FC236}">
                <a16:creationId xmlns:a16="http://schemas.microsoft.com/office/drawing/2014/main" id="{8EA43A86-6886-78D6-2E0D-1272BB11D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3161" y="1796143"/>
            <a:ext cx="4659085" cy="4184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1700" b="1" dirty="0"/>
              <a:t>תיאור קצר של המשחק:</a:t>
            </a:r>
          </a:p>
          <a:p>
            <a:pPr marL="0" indent="0">
              <a:buNone/>
            </a:pPr>
            <a:r>
              <a:rPr lang="he-IL" sz="1700" dirty="0"/>
              <a:t>משחק ארבע בשורה קלאסי עם תוספות של</a:t>
            </a:r>
          </a:p>
          <a:p>
            <a:pPr marL="0" indent="0">
              <a:buNone/>
            </a:pPr>
            <a:r>
              <a:rPr lang="he-IL" sz="1700" dirty="0"/>
              <a:t>שני סוגי פצצות ו-</a:t>
            </a:r>
            <a:r>
              <a:rPr lang="en-US" sz="1700" dirty="0"/>
              <a:t> AI </a:t>
            </a:r>
            <a:r>
              <a:rPr lang="he-IL" sz="1700" dirty="0"/>
              <a:t>המשתמש באלגוריתם</a:t>
            </a:r>
          </a:p>
          <a:p>
            <a:pPr marL="0" indent="0">
              <a:buNone/>
            </a:pPr>
            <a:r>
              <a:rPr lang="he-IL" sz="1700" dirty="0"/>
              <a:t>אלפא-בטא </a:t>
            </a:r>
            <a:r>
              <a:rPr lang="he-IL" sz="1700" dirty="0" err="1"/>
              <a:t>פרונינג</a:t>
            </a:r>
            <a:r>
              <a:rPr lang="he-IL" sz="1700" dirty="0"/>
              <a:t>.</a:t>
            </a:r>
          </a:p>
          <a:p>
            <a:pPr marL="0" indent="0">
              <a:buNone/>
            </a:pPr>
            <a:endParaRPr lang="he-IL" sz="1700" dirty="0"/>
          </a:p>
          <a:p>
            <a:pPr marL="0" indent="0">
              <a:buNone/>
            </a:pPr>
            <a:r>
              <a:rPr lang="he-IL" sz="1700" b="1" dirty="0"/>
              <a:t>מאפיינים עיקריים:</a:t>
            </a:r>
            <a:endParaRPr lang="he-IL" sz="1700" dirty="0"/>
          </a:p>
          <a:p>
            <a:pPr>
              <a:buFont typeface="Arial" panose="020B0604020202020204" pitchFamily="34" charset="0"/>
              <a:buChar char="•"/>
            </a:pPr>
            <a:r>
              <a:rPr lang="he-IL" sz="1700" dirty="0"/>
              <a:t>פצצות רגילות: משמידות טור שלם בלוח המשחק.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1700" dirty="0"/>
              <a:t>פצצות מוקש: משמידות את הכלים הסמוכים לנקודת הפיצוץ.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AI </a:t>
            </a:r>
            <a:r>
              <a:rPr lang="he-IL" sz="1700" dirty="0"/>
              <a:t> ברמות קושי שונות המשתמש באלגוריתם אלפא-בטא </a:t>
            </a:r>
            <a:r>
              <a:rPr lang="he-IL" sz="1700" dirty="0" err="1"/>
              <a:t>פרונינג</a:t>
            </a:r>
            <a:r>
              <a:rPr lang="he-IL" sz="1700" dirty="0"/>
              <a:t>.</a:t>
            </a:r>
          </a:p>
          <a:p>
            <a:endParaRPr lang="he-IL" sz="1700" dirty="0"/>
          </a:p>
        </p:txBody>
      </p:sp>
    </p:spTree>
    <p:extLst>
      <p:ext uri="{BB962C8B-B14F-4D97-AF65-F5344CB8AC3E}">
        <p14:creationId xmlns:p14="http://schemas.microsoft.com/office/powerpoint/2010/main" val="3438788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2B31E1D3-B10D-CD5E-E7E4-CFB32E94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he-IL" sz="5400"/>
              <a:t>כללי המשחק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BF796D0-0D31-CA38-7EF4-DF7191226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he-IL" sz="1700" b="1" dirty="0"/>
              <a:t>מטרת המשחק:</a:t>
            </a:r>
            <a:r>
              <a:rPr lang="he-IL" sz="1700" dirty="0"/>
              <a:t> ליצור רצף של ארבעה כלים באותו הצבע בצורה אנכית, אופקית או אלכסונית.</a:t>
            </a:r>
          </a:p>
          <a:p>
            <a:r>
              <a:rPr lang="he-IL" sz="1700" b="1" dirty="0"/>
              <a:t>כללי המשחק:</a:t>
            </a:r>
            <a:endParaRPr lang="he-IL" sz="1700" dirty="0"/>
          </a:p>
          <a:p>
            <a:pPr>
              <a:buFont typeface="Arial" panose="020B0604020202020204" pitchFamily="34" charset="0"/>
              <a:buChar char="•"/>
            </a:pPr>
            <a:r>
              <a:rPr lang="he-IL" sz="1700" dirty="0"/>
              <a:t>כל שחקן בתורו מניח כלי בעמודה נבחרת.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1700" dirty="0"/>
              <a:t>כל שחקן מתחיל עם שתי פצצות רגילות ושתי פצצות קרבה(תלוי ברמת הקושי).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1700" dirty="0"/>
              <a:t>פצצה רגילה משמידה את כל הכלים בעמודה.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1700" dirty="0"/>
              <a:t>פצצת מוקש משמידה את כל הכלים בסמוך לנקודת הפיצוץ.</a:t>
            </a:r>
          </a:p>
          <a:p>
            <a:endParaRPr lang="he-IL" sz="1700" dirty="0"/>
          </a:p>
        </p:txBody>
      </p:sp>
      <p:pic>
        <p:nvPicPr>
          <p:cNvPr id="5" name="Picture 4" descr="שחמט במשחק שחמט">
            <a:extLst>
              <a:ext uri="{FF2B5EF4-FFF2-40B4-BE49-F238E27FC236}">
                <a16:creationId xmlns:a16="http://schemas.microsoft.com/office/drawing/2014/main" id="{F2D06742-D5F3-98D2-6575-2F34FB7C90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18" r="14104" b="2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57627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PU עם מספרים בינאריים ושרטוט">
            <a:extLst>
              <a:ext uri="{FF2B5EF4-FFF2-40B4-BE49-F238E27FC236}">
                <a16:creationId xmlns:a16="http://schemas.microsoft.com/office/drawing/2014/main" id="{D97E9E73-C1F7-CFF2-BFC4-812EBECC11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13" r="7875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A6934079-46FF-195F-3184-3CF14F4BA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he-IL" sz="4000" dirty="0"/>
              <a:t>האלגוריתמים בהם השתמשנו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CE66F2B-D4FE-7A17-83D2-292A0F753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he-IL" sz="1700" b="1"/>
              <a:t>אלגוריתם אלפא-בטא פרונינג במשחק ארבע בשורה:</a:t>
            </a:r>
            <a:endParaRPr lang="he-IL" sz="1700"/>
          </a:p>
          <a:p>
            <a:pPr>
              <a:buFont typeface="Arial" panose="020B0604020202020204" pitchFamily="34" charset="0"/>
              <a:buChar char="•"/>
            </a:pPr>
            <a:r>
              <a:rPr lang="he-IL" sz="1700"/>
              <a:t>אלגוריתם אלפא-בטא פרונינג משמש להערכת מהלכים אפשריים של השחקן וה-</a:t>
            </a:r>
            <a:r>
              <a:rPr lang="en-US" sz="1700"/>
              <a:t>AI </a:t>
            </a:r>
            <a:r>
              <a:rPr lang="he-IL" sz="1700"/>
              <a:t> במשחק ארבע בשורה.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1700"/>
              <a:t>האלגוריתם מחפש את המהלך הטוב ביותר עבור ה-</a:t>
            </a:r>
            <a:r>
              <a:rPr lang="en-US" sz="1700"/>
              <a:t>AI </a:t>
            </a:r>
            <a:r>
              <a:rPr lang="he-IL" sz="1700"/>
              <a:t>על ידי חיתוך מהלכים שאין בהם צורך לבדוק, ובכך משפר את זמן החישוב.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1700"/>
              <a:t>ה-</a:t>
            </a:r>
            <a:r>
              <a:rPr lang="en-US" sz="1700"/>
              <a:t>AI </a:t>
            </a:r>
            <a:r>
              <a:rPr lang="he-IL" sz="1700"/>
              <a:t> בוחן מהלכים בעומק מוגדר מראש ומחשב את המהלך האופטימלי על ידי חישוב ערכי אלפא ובטא כדי למנוע בדיקת מהלכים שאינם תורמים לניצחון.</a:t>
            </a:r>
          </a:p>
          <a:p>
            <a:endParaRPr lang="he-IL" sz="1700"/>
          </a:p>
        </p:txBody>
      </p:sp>
    </p:spTree>
    <p:extLst>
      <p:ext uri="{BB962C8B-B14F-4D97-AF65-F5344CB8AC3E}">
        <p14:creationId xmlns:p14="http://schemas.microsoft.com/office/powerpoint/2010/main" val="2058759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2AC6811A-87DF-14B9-E044-62C35B94B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he-IL" sz="4800"/>
              <a:t>פונקציות הערכה</a:t>
            </a:r>
            <a:endParaRPr lang="he-IL" sz="4800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מציין מיקום תוכן 2">
            <a:extLst>
              <a:ext uri="{FF2B5EF4-FFF2-40B4-BE49-F238E27FC236}">
                <a16:creationId xmlns:a16="http://schemas.microsoft.com/office/drawing/2014/main" id="{68C7B337-A36B-A7CE-2D61-0A846A8073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97280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051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D89D154-3E52-1BE9-7810-A4669F83D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he-IL" sz="4000">
                <a:solidFill>
                  <a:srgbClr val="FFFFFF"/>
                </a:solidFill>
              </a:rPr>
              <a:t>שפת תכנות שנבחרה</a:t>
            </a:r>
            <a:endParaRPr lang="he-IL" sz="4000" dirty="0">
              <a:solidFill>
                <a:srgbClr val="FFFFFF"/>
              </a:solidFill>
            </a:endParaRPr>
          </a:p>
        </p:txBody>
      </p:sp>
      <p:graphicFrame>
        <p:nvGraphicFramePr>
          <p:cNvPr id="7" name="מציין מיקום תוכן 2">
            <a:extLst>
              <a:ext uri="{FF2B5EF4-FFF2-40B4-BE49-F238E27FC236}">
                <a16:creationId xmlns:a16="http://schemas.microsoft.com/office/drawing/2014/main" id="{BA90C23B-2EC0-3482-B7EA-33340EA81E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261217"/>
              </p:ext>
            </p:extLst>
          </p:nvPr>
        </p:nvGraphicFramePr>
        <p:xfrm>
          <a:off x="1491027" y="3207895"/>
          <a:ext cx="9209946" cy="3301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7FD20EDB-716C-1B1D-82F2-4CD4959B9B28}"/>
              </a:ext>
            </a:extLst>
          </p:cNvPr>
          <p:cNvSpPr txBox="1"/>
          <p:nvPr/>
        </p:nvSpPr>
        <p:spPr>
          <a:xfrm>
            <a:off x="4590624" y="2528003"/>
            <a:ext cx="3010752" cy="92506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7112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3200" b="1" kern="1200" dirty="0"/>
              <a:t>למה </a:t>
            </a:r>
            <a:r>
              <a:rPr lang="he-IL" sz="3200" b="1" kern="1200" dirty="0" err="1"/>
              <a:t>פייתון</a:t>
            </a:r>
            <a:r>
              <a:rPr lang="he-IL" sz="3200" b="1" dirty="0"/>
              <a:t>?</a:t>
            </a:r>
            <a:endParaRPr lang="en-US" sz="3200" kern="1200" dirty="0"/>
          </a:p>
        </p:txBody>
      </p:sp>
    </p:spTree>
    <p:extLst>
      <p:ext uri="{BB962C8B-B14F-4D97-AF65-F5344CB8AC3E}">
        <p14:creationId xmlns:p14="http://schemas.microsoft.com/office/powerpoint/2010/main" val="1560877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E7F9856-6A69-B7D2-04B2-7ABEEEA6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422700"/>
            <a:ext cx="9833548" cy="650026"/>
          </a:xfrm>
        </p:spPr>
        <p:txBody>
          <a:bodyPr anchor="b">
            <a:normAutofit/>
          </a:bodyPr>
          <a:lstStyle/>
          <a:p>
            <a:pPr algn="ctr"/>
            <a:r>
              <a:rPr lang="he-IL" sz="4000" dirty="0">
                <a:solidFill>
                  <a:schemeClr val="tx2"/>
                </a:solidFill>
              </a:rPr>
              <a:t>אתגרים במימוש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8981F4A-3244-7549-9D0F-DE5F9D35C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003" y="1548931"/>
            <a:ext cx="10255771" cy="43712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he-IL" sz="13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e-IL" sz="2600" b="1" dirty="0">
                <a:solidFill>
                  <a:schemeClr val="tx2"/>
                </a:solidFill>
              </a:rPr>
              <a:t>מימוש הפצצות</a:t>
            </a:r>
            <a:r>
              <a:rPr lang="he-IL" sz="2600" dirty="0">
                <a:solidFill>
                  <a:schemeClr val="tx2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2600" dirty="0">
                <a:solidFill>
                  <a:schemeClr val="tx2"/>
                </a:solidFill>
              </a:rPr>
              <a:t>היה צורך לתכנן מנגנון להפעלת פצצות רגילות(עמודה) וקרובות(מוקש), כולל התאמת הלוח לאחר הפעלת הפצצה.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2600" dirty="0">
                <a:solidFill>
                  <a:schemeClr val="tx2"/>
                </a:solidFill>
              </a:rPr>
              <a:t>ההתמודדות עם מחיקת כלים מהלוח והתאמת החוקים הייתה מאתגרת.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2600" b="1" dirty="0">
                <a:solidFill>
                  <a:schemeClr val="tx2"/>
                </a:solidFill>
              </a:rPr>
              <a:t>התמודדות עם אלגוריתם ה-</a:t>
            </a:r>
            <a:r>
              <a:rPr lang="en-US" sz="2600" b="1" dirty="0">
                <a:solidFill>
                  <a:schemeClr val="tx2"/>
                </a:solidFill>
              </a:rPr>
              <a:t>:AI</a:t>
            </a:r>
            <a:endParaRPr lang="en-US" sz="2600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2600" dirty="0">
                <a:solidFill>
                  <a:schemeClr val="tx2"/>
                </a:solidFill>
              </a:rPr>
              <a:t>מימוש נכון של אלגוריתם אלפא-בטא </a:t>
            </a:r>
            <a:r>
              <a:rPr lang="he-IL" sz="2600" dirty="0" err="1">
                <a:solidFill>
                  <a:schemeClr val="tx2"/>
                </a:solidFill>
              </a:rPr>
              <a:t>פרונינג</a:t>
            </a:r>
            <a:r>
              <a:rPr lang="he-IL" sz="2600" dirty="0">
                <a:solidFill>
                  <a:schemeClr val="tx2"/>
                </a:solidFill>
              </a:rPr>
              <a:t>, כולל חישוב ערכי אלפא ובטא לשיפור הביצועים.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2600" dirty="0">
                <a:solidFill>
                  <a:schemeClr val="tx2"/>
                </a:solidFill>
              </a:rPr>
              <a:t>בחירת המהלכים האופטימליים לפי פונקציות ההערכה השונות.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2600" b="1" dirty="0">
                <a:solidFill>
                  <a:schemeClr val="tx2"/>
                </a:solidFill>
              </a:rPr>
              <a:t>אנימציות והצגת המשחק</a:t>
            </a:r>
            <a:r>
              <a:rPr lang="he-IL" sz="2600" dirty="0">
                <a:solidFill>
                  <a:schemeClr val="tx2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2600" dirty="0">
                <a:solidFill>
                  <a:schemeClr val="tx2"/>
                </a:solidFill>
              </a:rPr>
              <a:t>מימוש אנימציות נפילת הכלים בצורה חלקה ואינטואיטיבית.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sz="2600" dirty="0">
                <a:solidFill>
                  <a:schemeClr val="tx2"/>
                </a:solidFill>
              </a:rPr>
              <a:t>התאמת הגרפיקה של הלוח והכלים בצורה שתהיה ברורה ונעימה למשתמש.</a:t>
            </a:r>
          </a:p>
          <a:p>
            <a:endParaRPr lang="he-IL" sz="13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6526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2C2299-4D56-1E27-3CB6-0972F50DB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צילומי מסך מהמשחק</a:t>
            </a:r>
            <a:endParaRPr lang="he-IL" dirty="0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144CE899-262C-021E-B557-2F5608EBF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924319" cy="2076740"/>
          </a:xfr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8D7B2967-7700-36C6-F707-AE8D9CC84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977" y="1307273"/>
            <a:ext cx="4172532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937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C71315C-1ADD-CBBF-816C-B3D6A5C4D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המשך תמונות</a:t>
            </a:r>
            <a:endParaRPr lang="he-IL" dirty="0"/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86F9C0FB-B020-0E0C-7E1C-7F0C07F88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151" y="2232734"/>
            <a:ext cx="3643569" cy="4646386"/>
          </a:xfrm>
          <a:prstGeom prst="rect">
            <a:avLst/>
          </a:prstGeom>
        </p:spPr>
      </p:pic>
      <p:sp>
        <p:nvSpPr>
          <p:cNvPr id="5" name="מציין מיקום תוכן 4">
            <a:extLst>
              <a:ext uri="{FF2B5EF4-FFF2-40B4-BE49-F238E27FC236}">
                <a16:creationId xmlns:a16="http://schemas.microsoft.com/office/drawing/2014/main" id="{F5B2BD4F-E30B-35DA-FCEB-CE18C619F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2" indent="0">
              <a:buNone/>
            </a:pPr>
            <a:r>
              <a:rPr lang="he-IL"/>
              <a:t>פצצה מוקש:						פצצת עמודה:</a:t>
            </a:r>
            <a:endParaRPr lang="he-IL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F6246473-DAD7-757A-C180-EFB95985C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90494"/>
            <a:ext cx="3649906" cy="466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55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72A5112-D1C9-4A7D-5588-B4E86EF17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המשך תמונות</a:t>
            </a:r>
          </a:p>
        </p:txBody>
      </p:sp>
      <p:pic>
        <p:nvPicPr>
          <p:cNvPr id="13" name="מציין מיקום תוכן 12">
            <a:extLst>
              <a:ext uri="{FF2B5EF4-FFF2-40B4-BE49-F238E27FC236}">
                <a16:creationId xmlns:a16="http://schemas.microsoft.com/office/drawing/2014/main" id="{3A7DC02E-465D-437C-696E-C6F6AE1FD3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5244" y="1825625"/>
            <a:ext cx="34415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3984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TM04033921[[fn=אריג דמשק]]</Template>
  <TotalTime>175</TotalTime>
  <Words>406</Words>
  <Application>Microsoft Office PowerPoint</Application>
  <PresentationFormat>מסך רחב</PresentationFormat>
  <Paragraphs>50</Paragraphs>
  <Slides>10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ערכת נושא Office</vt:lpstr>
      <vt:lpstr>4 בשורה אקסטרים</vt:lpstr>
      <vt:lpstr>מה מימשנו</vt:lpstr>
      <vt:lpstr>כללי המשחק</vt:lpstr>
      <vt:lpstr>האלגוריתמים בהם השתמשנו</vt:lpstr>
      <vt:lpstr>פונקציות הערכה</vt:lpstr>
      <vt:lpstr>שפת תכנות שנבחרה</vt:lpstr>
      <vt:lpstr>אתגרים במימוש</vt:lpstr>
      <vt:lpstr>צילומי מסך מהמשחק</vt:lpstr>
      <vt:lpstr>המשך תמונות</vt:lpstr>
      <vt:lpstr>המשך תמונות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yoav yamin</dc:creator>
  <cp:lastModifiedBy>yoav yamin</cp:lastModifiedBy>
  <cp:revision>4</cp:revision>
  <dcterms:created xsi:type="dcterms:W3CDTF">2024-07-28T12:21:19Z</dcterms:created>
  <dcterms:modified xsi:type="dcterms:W3CDTF">2024-07-29T11:33:39Z</dcterms:modified>
</cp:coreProperties>
</file>